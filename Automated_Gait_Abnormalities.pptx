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8"/>
  </p:sldIdLst>
  <p:sldSz cy="6858000" cx="12192000"/>
  <p:notesSz cx="6858000" cy="12192000"/>
  <p:embeddedFontLs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CE4109-C6D2-4D01-8105-970DAE0A201F}">
  <a:tblStyle styleId="{41CE4109-C6D2-4D01-8105-970DAE0A20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HelveticaNeue-regular.fntdata"/><Relationship Id="rId15" Type="http://schemas.openxmlformats.org/officeDocument/2006/relationships/font" Target="fonts/HelveticaNeue-bold.fntdata"/><Relationship Id="rId16" Type="http://schemas.openxmlformats.org/officeDocument/2006/relationships/font" Target="fonts/HelveticaNeue-italic.fntdata"/><Relationship Id="rId17" Type="http://schemas.openxmlformats.org/officeDocument/2006/relationships/font" Target="fonts/HelveticaNeue-boldItalic.fntdata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pc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7F6F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12800" y="812800"/>
            <a:ext cx="10566400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3200"/>
              <a:buFont typeface="Helvetica Neue"/>
              <a:buNone/>
              <a:defRPr sz="3200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12800" y="1584920"/>
            <a:ext cx="10566400" cy="446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421"/>
              </a:buClr>
              <a:buSzPts val="1600"/>
              <a:buNone/>
              <a:defRPr sz="1600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12800" y="812800"/>
            <a:ext cx="10566400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3200"/>
              <a:buFont typeface="Helvetica Neue"/>
              <a:buNone/>
              <a:defRPr b="0" i="0" spc="0" sz="3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2800" y="1584920"/>
            <a:ext cx="10566400" cy="446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421"/>
              </a:buClr>
              <a:buSzPts val="1600"/>
              <a:buFont typeface="Arial"/>
              <a:buNone/>
              <a:defRPr b="0" i="0" spc="0" sz="16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pc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pc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pc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42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C4BD"/>
              </a:buClr>
              <a:buSzPts val="1200"/>
              <a:buFont typeface="Helvetica Neue"/>
              <a:buNone/>
            </a:pPr>
            <a:r>
              <a:rPr b="0" i="0" lang="en-US" spc="100" sz="1200" u="none" cap="none" strike="noStrike">
                <a:solidFill>
                  <a:srgbClr val="7FC4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NO. 10 · PROBLEM NO. 28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12800" y="1178520"/>
            <a:ext cx="9156700" cy="123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4400"/>
              <a:buFont typeface="Helvetica Neue"/>
              <a:buNone/>
            </a:pPr>
            <a:r>
              <a:rPr b="1" i="0" lang="en-US" sz="4400">
                <a:solidFill>
                  <a:srgbClr val="F7F6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Identification of Gait Abnormalities</a:t>
            </a:r>
            <a:endParaRPr sz="4400"/>
          </a:p>
        </p:txBody>
      </p:sp>
      <p:sp>
        <p:nvSpPr>
          <p:cNvPr id="23" name="Google Shape;23;p4"/>
          <p:cNvSpPr/>
          <p:nvPr/>
        </p:nvSpPr>
        <p:spPr>
          <a:xfrm>
            <a:off x="812800" y="2537817"/>
            <a:ext cx="7848600" cy="594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CBC8"/>
              </a:buClr>
              <a:buSzPts val="1600"/>
              <a:buFont typeface="Helvetica Neue"/>
              <a:buNone/>
            </a:pPr>
            <a:r>
              <a:rPr b="0" i="0" lang="en-US" spc="0" sz="1600" u="none" cap="none" strike="noStrike">
                <a:solidFill>
                  <a:srgbClr val="C7CB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Classifying six gait patterns from skeleton-derived bone structure and joint angle data.</a:t>
            </a:r>
            <a:endParaRPr b="0" i="0" spc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12800" y="3259073"/>
            <a:ext cx="2740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Helvetica Neue"/>
              <a:buNone/>
            </a:pPr>
            <a:r>
              <a:rPr b="0" i="0" lang="en-US" spc="0" sz="1400" u="none" cap="none" strike="noStrike">
                <a:solidFill>
                  <a:srgbClr val="F7F6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NISHIT SURESH</a:t>
            </a:r>
            <a:br>
              <a:rPr b="0" i="0" lang="en-US" spc="0" sz="1400" u="none" cap="none" strike="noStrike">
                <a:solidFill>
                  <a:srgbClr val="F7F6F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pc="0" sz="1400" u="none" cap="none" strike="noStrike">
                <a:solidFill>
                  <a:srgbClr val="F7F6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PES2UG24CS326</a:t>
            </a:r>
            <a:endParaRPr b="0" i="0" spc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12800" y="4776812"/>
            <a:ext cx="31932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Helvetica Neue"/>
              <a:buNone/>
            </a:pPr>
            <a:r>
              <a:rPr b="0" i="0" lang="en-US" spc="0" sz="1300" u="none" cap="none" strike="noStrike">
                <a:solidFill>
                  <a:srgbClr val="F7F6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NITIN SOMISETTY</a:t>
            </a:r>
            <a:endParaRPr b="0" i="0" spc="0" sz="1300" u="none" cap="none" strike="noStrike">
              <a:solidFill>
                <a:srgbClr val="F7F6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Helvetica Neue"/>
              <a:buNone/>
            </a:pPr>
            <a:r>
              <a:rPr b="0" i="0" lang="en-US" spc="0" sz="1300" u="none" cap="none" strike="noStrike">
                <a:solidFill>
                  <a:srgbClr val="F7F6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PES2UG24CS327</a:t>
            </a:r>
            <a:endParaRPr b="0" i="0" spc="0" sz="1300" u="none" cap="none" strike="noStrike">
              <a:solidFill>
                <a:srgbClr val="F7F6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0623550" y="5289550"/>
            <a:ext cx="749300" cy="7493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2E6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ctivity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0400" y="5486400"/>
            <a:ext cx="355600" cy="35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3200"/>
              <a:buFont typeface="Helvetica Neue"/>
              <a:buNone/>
            </a:pPr>
            <a:r>
              <a:rPr b="1" i="0" lang="en-US" sz="3200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sz="3200"/>
          </a:p>
        </p:txBody>
      </p:sp>
      <p:sp>
        <p:nvSpPr>
          <p:cNvPr id="34" name="Google Shape;34;p5"/>
          <p:cNvSpPr/>
          <p:nvPr/>
        </p:nvSpPr>
        <p:spPr>
          <a:xfrm>
            <a:off x="812800" y="1584920"/>
            <a:ext cx="981075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700"/>
              <a:buFont typeface="Helvetica Neue"/>
              <a:buNone/>
            </a:pPr>
            <a:r>
              <a:rPr b="0" i="0" lang="en-US" spc="0" sz="17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Gait abnormalities are early indicators of musculoskeletal and neurological conditions. Manual clinical assessment is subjective, slow, and requires expert observation. We build a model that classifies gait type directly from skeleton pose data, enabling fast, consistent, and scalable screening.</a:t>
            </a:r>
            <a:endParaRPr b="0" i="0" spc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15975" y="3188295"/>
            <a:ext cx="1984970" cy="847923"/>
          </a:xfrm>
          <a:prstGeom prst="roundRect">
            <a:avLst>
              <a:gd fmla="val 11608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020233" y="3392554"/>
            <a:ext cx="1627254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6B"/>
              </a:buClr>
              <a:buSzPts val="1300"/>
              <a:buFont typeface="Helvetica Neue"/>
              <a:buNone/>
            </a:pPr>
            <a:r>
              <a:rPr b="1" i="0" lang="en-US" spc="0" sz="1300" u="none" cap="none" strike="noStrike">
                <a:solidFill>
                  <a:srgbClr val="2E6F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Antalgic</a:t>
            </a:r>
            <a:endParaRPr b="0" i="0" spc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020233" y="3654161"/>
            <a:ext cx="162725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F5A"/>
              </a:buClr>
              <a:buSzPts val="1000"/>
              <a:buFont typeface="Helvetica Neue"/>
              <a:buNone/>
            </a:pPr>
            <a:r>
              <a:rPr b="0" i="0" lang="en-US" spc="0" sz="1000" u="none" cap="none" strike="noStrike">
                <a:solidFill>
                  <a:srgbClr val="5A5F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Pain-avoidance limp</a:t>
            </a:r>
            <a:endParaRPr b="0" i="0" spc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959695" y="3188295"/>
            <a:ext cx="1985037" cy="847923"/>
          </a:xfrm>
          <a:prstGeom prst="roundRect">
            <a:avLst>
              <a:gd fmla="val 11608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163954" y="3392554"/>
            <a:ext cx="1627320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6B"/>
              </a:buClr>
              <a:buSzPts val="1300"/>
              <a:buFont typeface="Helvetica Neue"/>
              <a:buNone/>
            </a:pPr>
            <a:r>
              <a:rPr b="1" i="0" lang="en-US" spc="0" sz="1300" u="none" cap="none" strike="noStrike">
                <a:solidFill>
                  <a:srgbClr val="2E6F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Lurch</a:t>
            </a:r>
            <a:endParaRPr b="0" i="0" spc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163954" y="3654161"/>
            <a:ext cx="162732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F5A"/>
              </a:buClr>
              <a:buSzPts val="1000"/>
              <a:buFont typeface="Helvetica Neue"/>
              <a:buNone/>
            </a:pPr>
            <a:r>
              <a:rPr b="0" i="0" lang="en-US" spc="0" sz="1000" u="none" cap="none" strike="noStrike">
                <a:solidFill>
                  <a:srgbClr val="5A5F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Trunk compensation</a:t>
            </a:r>
            <a:endParaRPr b="0" i="0" spc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103482" y="3188295"/>
            <a:ext cx="1984970" cy="847923"/>
          </a:xfrm>
          <a:prstGeom prst="roundRect">
            <a:avLst>
              <a:gd fmla="val 11608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307740" y="3392554"/>
            <a:ext cx="1627254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6B"/>
              </a:buClr>
              <a:buSzPts val="1300"/>
              <a:buFont typeface="Helvetica Neue"/>
              <a:buNone/>
            </a:pPr>
            <a:r>
              <a:rPr b="1" i="0" lang="en-US" spc="0" sz="1300" u="none" cap="none" strike="noStrike">
                <a:solidFill>
                  <a:srgbClr val="2E6F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Steppage</a:t>
            </a:r>
            <a:endParaRPr b="0" i="0" spc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307740" y="3654161"/>
            <a:ext cx="162725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F5A"/>
              </a:buClr>
              <a:buSzPts val="1000"/>
              <a:buFont typeface="Helvetica Neue"/>
              <a:buNone/>
            </a:pPr>
            <a:r>
              <a:rPr b="0" i="0" lang="en-US" spc="0" sz="1000" u="none" cap="none" strike="noStrike">
                <a:solidFill>
                  <a:srgbClr val="5A5F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Foot drop, high knee lift</a:t>
            </a:r>
            <a:endParaRPr b="0" i="0" spc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247203" y="3188295"/>
            <a:ext cx="1985037" cy="847923"/>
          </a:xfrm>
          <a:prstGeom prst="roundRect">
            <a:avLst>
              <a:gd fmla="val 11608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451461" y="3392554"/>
            <a:ext cx="1627320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6B"/>
              </a:buClr>
              <a:buSzPts val="1300"/>
              <a:buFont typeface="Helvetica Neue"/>
              <a:buNone/>
            </a:pPr>
            <a:r>
              <a:rPr b="1" i="0" lang="en-US" spc="0" sz="1300" u="none" cap="none" strike="noStrike">
                <a:solidFill>
                  <a:srgbClr val="2E6F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Stiff-legged</a:t>
            </a:r>
            <a:endParaRPr b="0" i="0" spc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451461" y="3654161"/>
            <a:ext cx="162732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F5A"/>
              </a:buClr>
              <a:buSzPts val="1000"/>
              <a:buFont typeface="Helvetica Neue"/>
              <a:buNone/>
            </a:pPr>
            <a:r>
              <a:rPr b="0" i="0" lang="en-US" spc="0" sz="1000" u="none" cap="none" strike="noStrike">
                <a:solidFill>
                  <a:srgbClr val="5A5F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Reduced knee flexion</a:t>
            </a:r>
            <a:endParaRPr b="0" i="0" spc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390989" y="3188295"/>
            <a:ext cx="1985037" cy="847923"/>
          </a:xfrm>
          <a:prstGeom prst="roundRect">
            <a:avLst>
              <a:gd fmla="val 11608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9595247" y="3392554"/>
            <a:ext cx="1627320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6B"/>
              </a:buClr>
              <a:buSzPts val="1300"/>
              <a:buFont typeface="Helvetica Neue"/>
              <a:buNone/>
            </a:pPr>
            <a:r>
              <a:rPr b="1" i="0" lang="en-US" spc="0" sz="1300" u="none" cap="none" strike="noStrike">
                <a:solidFill>
                  <a:srgbClr val="2E6F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Trendelenburg</a:t>
            </a:r>
            <a:endParaRPr b="0" i="0" spc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9595247" y="3654161"/>
            <a:ext cx="162732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F5A"/>
              </a:buClr>
              <a:buSzPts val="1000"/>
              <a:buFont typeface="Helvetica Neue"/>
              <a:buNone/>
            </a:pPr>
            <a:r>
              <a:rPr b="0" i="0" lang="en-US" spc="0" sz="1000" u="none" cap="none" strike="noStrike">
                <a:solidFill>
                  <a:srgbClr val="5A5F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Pelvic drop, hip weakness</a:t>
            </a:r>
            <a:endParaRPr b="0" i="0" spc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12800" y="6256074"/>
            <a:ext cx="4180920" cy="220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F8A"/>
              </a:buClr>
              <a:buSzPts val="1100"/>
              <a:buFont typeface="Helvetica Neue"/>
              <a:buNone/>
            </a:pPr>
            <a:r>
              <a:rPr b="0" i="0" lang="en-US" spc="0" sz="1100" u="none" cap="none" strike="noStrike">
                <a:solidFill>
                  <a:srgbClr val="8A8F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Identification of Gait Abnormalities · Team 10</a:t>
            </a:r>
            <a:endParaRPr b="0" i="0" spc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3200"/>
              <a:buFont typeface="Helvetica Neue"/>
              <a:buNone/>
            </a:pPr>
            <a:r>
              <a:rPr b="1" i="0" lang="en-US" sz="3200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</a:t>
            </a:r>
            <a:endParaRPr sz="3200"/>
          </a:p>
        </p:txBody>
      </p:sp>
      <p:sp>
        <p:nvSpPr>
          <p:cNvPr id="57" name="Google Shape;57;p6"/>
          <p:cNvSpPr/>
          <p:nvPr/>
        </p:nvSpPr>
        <p:spPr>
          <a:xfrm>
            <a:off x="812800" y="1584920"/>
            <a:ext cx="4948767" cy="1361347"/>
          </a:xfrm>
          <a:prstGeom prst="roundRect">
            <a:avLst>
              <a:gd fmla="val 7463" name="adj"/>
            </a:avLst>
          </a:prstGeom>
          <a:solidFill>
            <a:srgbClr val="1F2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041400" y="1813520"/>
            <a:ext cx="4626314" cy="6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C4BD"/>
              </a:buClr>
              <a:buSzPts val="3600"/>
              <a:buFont typeface="Helvetica Neue"/>
              <a:buNone/>
            </a:pPr>
            <a:r>
              <a:rPr b="1" i="0" lang="en-US" spc="0" sz="3600" u="none" cap="none" strike="noStrike">
                <a:solidFill>
                  <a:srgbClr val="7FC4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2,182</a:t>
            </a:r>
            <a:endParaRPr b="0" i="0" spc="0" sz="3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041400" y="2504348"/>
            <a:ext cx="462631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CBC8"/>
              </a:buClr>
              <a:buSzPts val="1200"/>
              <a:buFont typeface="Helvetica Neue"/>
              <a:buNone/>
            </a:pPr>
            <a:r>
              <a:rPr b="0" i="0" lang="en-US" spc="0" sz="1200" u="none" cap="none" strike="noStrike">
                <a:solidFill>
                  <a:srgbClr val="C7CB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labeled skeleton-frame samples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12800" y="3149468"/>
            <a:ext cx="4948767" cy="1361347"/>
          </a:xfrm>
          <a:prstGeom prst="roundRect">
            <a:avLst>
              <a:gd fmla="val 7463" name="adj"/>
            </a:avLst>
          </a:prstGeom>
          <a:solidFill>
            <a:srgbClr val="1F2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041400" y="3378068"/>
            <a:ext cx="4626314" cy="6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C4BD"/>
              </a:buClr>
              <a:buSzPts val="3600"/>
              <a:buFont typeface="Helvetica Neue"/>
              <a:buNone/>
            </a:pPr>
            <a:r>
              <a:rPr b="1" i="0" lang="en-US" spc="0" sz="3600" u="none" cap="none" strike="noStrike">
                <a:solidFill>
                  <a:srgbClr val="7FC4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480</a:t>
            </a:r>
            <a:endParaRPr b="0" i="0" spc="0" sz="3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041400" y="4043496"/>
            <a:ext cx="4626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CBC8"/>
              </a:buClr>
              <a:buSzPts val="1200"/>
              <a:buFont typeface="Helvetica Neue"/>
              <a:buNone/>
            </a:pPr>
            <a:r>
              <a:rPr b="0" i="0" lang="en-US" spc="0" sz="1200" u="none" cap="none" strike="noStrike">
                <a:solidFill>
                  <a:srgbClr val="C7CB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walking patterns noted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967942" y="1588095"/>
            <a:ext cx="5408083" cy="2919545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197600" y="1817754"/>
            <a:ext cx="50972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400"/>
              <a:buFont typeface="Helvetica Neue"/>
              <a:buNone/>
            </a:pPr>
            <a:r>
              <a:rPr b="1" i="0" lang="en-US" spc="0" sz="14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gait classes, near-balanced</a:t>
            </a:r>
            <a:endParaRPr b="0" i="0" spc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65" name="Google Shape;65;p6"/>
          <p:cNvGraphicFramePr/>
          <p:nvPr/>
        </p:nvGraphicFramePr>
        <p:xfrm>
          <a:off x="6210300" y="2158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{41CE4109-C6D2-4D01-8105-970DAE0A201F}</a:tableStyleId>
              </a:tblPr>
              <a:tblGrid>
                <a:gridCol w="2468025"/>
                <a:gridCol w="2468025"/>
              </a:tblGrid>
              <a:tr h="30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5F5A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5A5F5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Antalgic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366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5F5A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5A5F5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Lurch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359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5F5A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5A5F5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Normal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364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5F5A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5A5F5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Steppage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370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5F5A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5A5F5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Stiff-legged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366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5F5A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5A5F5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Trendelenburg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pc="0" sz="11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357</a:t>
                      </a:r>
                      <a:endParaRPr spc="0"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0" marL="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" name="Google Shape;66;p6"/>
          <p:cNvSpPr/>
          <p:nvPr/>
        </p:nvSpPr>
        <p:spPr>
          <a:xfrm>
            <a:off x="812800" y="4815616"/>
            <a:ext cx="10883392" cy="220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6D"/>
              </a:buClr>
              <a:buSzPts val="1100"/>
              <a:buFont typeface="Helvetica Neue"/>
              <a:buNone/>
            </a:pPr>
            <a:r>
              <a:rPr b="0" i="0" lang="en-US" spc="0" sz="1100" u="none" cap="none" strike="noStrike">
                <a:solidFill>
                  <a:srgbClr val="6B71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Features derived from skeleton joint coordinates: bone-segment lengths, knee/hip/ankle angles, and stride-cycle dynamics. Evaluated with 5-fold cross-validation.</a:t>
            </a:r>
            <a:endParaRPr b="0" i="0" spc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/>
        </p:nvSpPr>
        <p:spPr>
          <a:xfrm>
            <a:off x="502920" y="310896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7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From Skeleton Data to Gait Prediction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20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Each stage transforms raw joint coordinates into a validated classification result.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502920" y="1874519"/>
            <a:ext cx="1495697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12648" y="2011679"/>
            <a:ext cx="347472" cy="347472"/>
          </a:xfrm>
          <a:prstGeom prst="ellipse">
            <a:avLst/>
          </a:prstGeom>
          <a:solidFill>
            <a:srgbClr val="E2EFEC"/>
          </a:solidFill>
          <a:ln cap="flat" cmpd="sng" w="9525">
            <a:solidFill>
              <a:srgbClr val="E2E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612648" y="2478024"/>
            <a:ext cx="131281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Skeleton</a:t>
            </a:r>
            <a:b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612648" y="3154679"/>
            <a:ext cx="131281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3D joint keypoints</a:t>
            </a:r>
            <a:b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across walking frames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2012333" y="2953511"/>
            <a:ext cx="128016" cy="274320"/>
          </a:xfrm>
          <a:prstGeom prst="chevron">
            <a:avLst>
              <a:gd fmla="val 50000" name="adj"/>
            </a:avLst>
          </a:prstGeom>
          <a:solidFill>
            <a:srgbClr val="2C6F6A"/>
          </a:solidFill>
          <a:ln cap="flat" cmpd="sng" w="9525">
            <a:solidFill>
              <a:srgbClr val="2C6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117489" y="1874519"/>
            <a:ext cx="1495697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2227217" y="2011679"/>
            <a:ext cx="347472" cy="347472"/>
          </a:xfrm>
          <a:prstGeom prst="ellipse">
            <a:avLst/>
          </a:prstGeom>
          <a:solidFill>
            <a:srgbClr val="E2EFEC"/>
          </a:solidFill>
          <a:ln cap="flat" cmpd="sng" w="9525">
            <a:solidFill>
              <a:srgbClr val="E2E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2227217" y="2478024"/>
            <a:ext cx="131281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Load &amp;</a:t>
            </a:r>
            <a:b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</p:txBody>
      </p:sp>
      <p:sp>
        <p:nvSpPr>
          <p:cNvPr id="82" name="Google Shape;82;p7"/>
          <p:cNvSpPr txBox="1"/>
          <p:nvPr/>
        </p:nvSpPr>
        <p:spPr>
          <a:xfrm>
            <a:off x="2227217" y="3154679"/>
            <a:ext cx="131281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Check files, labels,</a:t>
            </a:r>
            <a:b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columns and missing data</a:t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3626902" y="2953511"/>
            <a:ext cx="128016" cy="274320"/>
          </a:xfrm>
          <a:prstGeom prst="chevron">
            <a:avLst>
              <a:gd fmla="val 50000" name="adj"/>
            </a:avLst>
          </a:prstGeom>
          <a:solidFill>
            <a:srgbClr val="2C6F6A"/>
          </a:solidFill>
          <a:ln cap="flat" cmpd="sng" w="9525">
            <a:solidFill>
              <a:srgbClr val="2C6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732058" y="1874519"/>
            <a:ext cx="1495697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3841786" y="2011679"/>
            <a:ext cx="347472" cy="347472"/>
          </a:xfrm>
          <a:prstGeom prst="ellipse">
            <a:avLst/>
          </a:prstGeom>
          <a:solidFill>
            <a:srgbClr val="E2EFEC"/>
          </a:solidFill>
          <a:ln cap="flat" cmpd="sng" w="9525">
            <a:solidFill>
              <a:srgbClr val="E2E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3841786" y="2478024"/>
            <a:ext cx="131281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3841786" y="3154679"/>
            <a:ext cx="131281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Calculate joint angles,</a:t>
            </a:r>
            <a:b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segment lengths, symmetry</a:t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5241471" y="2953511"/>
            <a:ext cx="128016" cy="274320"/>
          </a:xfrm>
          <a:prstGeom prst="chevron">
            <a:avLst>
              <a:gd fmla="val 50000" name="adj"/>
            </a:avLst>
          </a:prstGeom>
          <a:solidFill>
            <a:srgbClr val="2C6F6A"/>
          </a:solidFill>
          <a:ln cap="flat" cmpd="sng" w="9525">
            <a:solidFill>
              <a:srgbClr val="2C6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346627" y="1874519"/>
            <a:ext cx="1495697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56355" y="2011679"/>
            <a:ext cx="347472" cy="347472"/>
          </a:xfrm>
          <a:prstGeom prst="ellipse">
            <a:avLst/>
          </a:prstGeom>
          <a:solidFill>
            <a:srgbClr val="E2EFEC"/>
          </a:solidFill>
          <a:ln cap="flat" cmpd="sng" w="9525">
            <a:solidFill>
              <a:srgbClr val="E2E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91" name="Google Shape;91;p7"/>
          <p:cNvSpPr txBox="1"/>
          <p:nvPr/>
        </p:nvSpPr>
        <p:spPr>
          <a:xfrm>
            <a:off x="5456355" y="2478024"/>
            <a:ext cx="131281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Clean &amp;</a:t>
            </a:r>
            <a:b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5456355" y="3154679"/>
            <a:ext cx="131281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Handle invalid values;</a:t>
            </a:r>
            <a:b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scale features if needed</a:t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856040" y="2953511"/>
            <a:ext cx="128016" cy="274320"/>
          </a:xfrm>
          <a:prstGeom prst="chevron">
            <a:avLst>
              <a:gd fmla="val 50000" name="adj"/>
            </a:avLst>
          </a:prstGeom>
          <a:solidFill>
            <a:srgbClr val="2C6F6A"/>
          </a:solidFill>
          <a:ln cap="flat" cmpd="sng" w="9525">
            <a:solidFill>
              <a:srgbClr val="2C6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961196" y="1874519"/>
            <a:ext cx="1495697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7070924" y="2011679"/>
            <a:ext cx="347472" cy="347472"/>
          </a:xfrm>
          <a:prstGeom prst="ellipse">
            <a:avLst/>
          </a:prstGeom>
          <a:solidFill>
            <a:srgbClr val="E2EFEC"/>
          </a:solidFill>
          <a:ln cap="flat" cmpd="sng" w="9525">
            <a:solidFill>
              <a:srgbClr val="E2E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7070924" y="2478024"/>
            <a:ext cx="131281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b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7070924" y="3154679"/>
            <a:ext cx="131281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Logistic Regression,</a:t>
            </a:r>
            <a:b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Random Forest, Boosting</a:t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470609" y="2953511"/>
            <a:ext cx="128016" cy="274320"/>
          </a:xfrm>
          <a:prstGeom prst="chevron">
            <a:avLst>
              <a:gd fmla="val 50000" name="adj"/>
            </a:avLst>
          </a:prstGeom>
          <a:solidFill>
            <a:srgbClr val="2C6F6A"/>
          </a:solidFill>
          <a:ln cap="flat" cmpd="sng" w="9525">
            <a:solidFill>
              <a:srgbClr val="2C6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8575765" y="1874519"/>
            <a:ext cx="1495697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685493" y="2011679"/>
            <a:ext cx="347472" cy="347472"/>
          </a:xfrm>
          <a:prstGeom prst="ellipse">
            <a:avLst/>
          </a:prstGeom>
          <a:solidFill>
            <a:srgbClr val="D69D48"/>
          </a:solidFill>
          <a:ln cap="flat" cmpd="sng" w="9525">
            <a:solidFill>
              <a:srgbClr val="D6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8685493" y="2478024"/>
            <a:ext cx="131281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Evaluate &amp;</a:t>
            </a:r>
            <a:b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1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8685493" y="3154679"/>
            <a:ext cx="131281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5-fold validation;</a:t>
            </a:r>
            <a:b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85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accuracy and macro F1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0085178" y="2953511"/>
            <a:ext cx="128016" cy="274320"/>
          </a:xfrm>
          <a:prstGeom prst="chevron">
            <a:avLst>
              <a:gd fmla="val 50000" name="adj"/>
            </a:avLst>
          </a:prstGeom>
          <a:solidFill>
            <a:srgbClr val="2C6F6A"/>
          </a:solidFill>
          <a:ln cap="flat" cmpd="sng" w="9525">
            <a:solidFill>
              <a:srgbClr val="2C6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0190334" y="1874519"/>
            <a:ext cx="1495697" cy="2377440"/>
          </a:xfrm>
          <a:prstGeom prst="roundRect">
            <a:avLst>
              <a:gd fmla="val 16667" name="adj"/>
            </a:avLst>
          </a:prstGeom>
          <a:solidFill>
            <a:srgbClr val="2C6F6A"/>
          </a:solidFill>
          <a:ln cap="flat" cmpd="sng" w="12700">
            <a:solidFill>
              <a:srgbClr val="2C6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0300062" y="2011679"/>
            <a:ext cx="347472" cy="347472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10300062" y="2478024"/>
            <a:ext cx="1312817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b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gait</a:t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10300062" y="3154679"/>
            <a:ext cx="131281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EBF5F2"/>
                </a:solidFill>
                <a:latin typeface="Arial"/>
                <a:ea typeface="Arial"/>
                <a:cs typeface="Arial"/>
                <a:sym typeface="Arial"/>
              </a:rPr>
              <a:t>Classify into one of</a:t>
            </a:r>
            <a:br>
              <a:rPr b="0" i="0" lang="en-US" spc="0" sz="850" u="none" cap="none" strike="noStrike">
                <a:solidFill>
                  <a:srgbClr val="EBF5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850" u="none" cap="none" strike="noStrike">
                <a:solidFill>
                  <a:srgbClr val="EBF5F2"/>
                </a:solidFill>
                <a:latin typeface="Arial"/>
                <a:ea typeface="Arial"/>
                <a:cs typeface="Arial"/>
                <a:sym typeface="Arial"/>
              </a:rPr>
              <a:t>six gait categories</a:t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530352" y="46085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0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WHAT THE MODEL LEARNS</a:t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530352" y="4919472"/>
            <a:ext cx="53949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30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Movement patterns in knee/hip angles, stride cadence and left–right symmetry help distinguish the six gait categories.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446520" y="4709160"/>
            <a:ext cx="5138928" cy="1078992"/>
          </a:xfrm>
          <a:prstGeom prst="roundRect">
            <a:avLst>
              <a:gd fmla="val 16667" name="adj"/>
            </a:avLst>
          </a:prstGeom>
          <a:solidFill>
            <a:srgbClr val="E2EFEC"/>
          </a:solidFill>
          <a:ln cap="flat" cmpd="sng" w="12700">
            <a:solidFill>
              <a:srgbClr val="E2E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6656832" y="4818888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C6F6A"/>
                </a:solidFill>
                <a:latin typeface="Arial"/>
                <a:ea typeface="Arial"/>
                <a:cs typeface="Arial"/>
                <a:sym typeface="Arial"/>
              </a:rPr>
              <a:t>HOW WE CHECK IT</a:t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6656832" y="5084064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050" u="none" cap="none" strike="noStrike">
                <a:solidFill>
                  <a:srgbClr val="1F2521"/>
                </a:solidFill>
                <a:latin typeface="Arial"/>
                <a:ea typeface="Arial"/>
                <a:cs typeface="Arial"/>
                <a:sym typeface="Arial"/>
              </a:rPr>
              <a:t>Compare accuracy and macro F1 across folds. Keeping subjects separated helps test performance on unseen people.</a:t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530352" y="624535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900" u="none" cap="none" strike="noStrike">
                <a:solidFill>
                  <a:srgbClr val="676D68"/>
                </a:solidFill>
                <a:latin typeface="Arial"/>
                <a:ea typeface="Arial"/>
                <a:cs typeface="Arial"/>
                <a:sym typeface="Arial"/>
              </a:rPr>
              <a:t>Automated Identification of Gait Abnormalities  ·  Team 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3200"/>
              <a:buFont typeface="Helvetica Neue"/>
              <a:buNone/>
            </a:pPr>
            <a:r>
              <a:rPr b="1" i="0" lang="en-US" sz="3200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Engineering &amp; Modeling</a:t>
            </a:r>
            <a:endParaRPr sz="3200"/>
          </a:p>
        </p:txBody>
      </p:sp>
      <p:sp>
        <p:nvSpPr>
          <p:cNvPr id="120" name="Google Shape;120;p8"/>
          <p:cNvSpPr/>
          <p:nvPr/>
        </p:nvSpPr>
        <p:spPr>
          <a:xfrm>
            <a:off x="815975" y="1588095"/>
            <a:ext cx="5175250" cy="4250730"/>
          </a:xfrm>
          <a:prstGeom prst="roundRect">
            <a:avLst>
              <a:gd fmla="val 2315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071033" y="1843156"/>
            <a:ext cx="48050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6B"/>
              </a:buClr>
              <a:buSzPts val="1500"/>
              <a:buFont typeface="Helvetica Neue"/>
              <a:buNone/>
            </a:pPr>
            <a:r>
              <a:rPr b="1" i="0" lang="en-US" spc="0" sz="1500" u="none" cap="none" strike="noStrike">
                <a:solidFill>
                  <a:srgbClr val="2E6F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Features</a:t>
            </a:r>
            <a:endParaRPr b="0" i="0" spc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106339" y="2186056"/>
            <a:ext cx="4764447" cy="1061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Bone-segment lengths from joint keypoints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Knee, hip, and ankle flex angles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Stride cadence and symmetry ratios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Normalized per-subject to remove scale bias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200775" y="1588095"/>
            <a:ext cx="5175250" cy="4250730"/>
          </a:xfrm>
          <a:prstGeom prst="roundRect">
            <a:avLst>
              <a:gd fmla="val 2315" name="adj"/>
            </a:avLst>
          </a:prstGeom>
          <a:solidFill>
            <a:srgbClr val="FFFFFF"/>
          </a:solidFill>
          <a:ln cap="flat" cmpd="sng" w="9525">
            <a:solidFill>
              <a:srgbClr val="E3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455833" y="1843156"/>
            <a:ext cx="48050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6B"/>
              </a:buClr>
              <a:buSzPts val="1500"/>
              <a:buFont typeface="Helvetica Neue"/>
              <a:buNone/>
            </a:pPr>
            <a:r>
              <a:rPr b="1" i="0" lang="en-US" spc="0" sz="1500" u="none" cap="none" strike="noStrike">
                <a:solidFill>
                  <a:srgbClr val="2E6F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Models Compared</a:t>
            </a:r>
            <a:endParaRPr b="0" i="0" spc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491139" y="2186056"/>
            <a:ext cx="4764447" cy="1061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Logistic Regression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Random Forest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Gradient Boosting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42494" lvl="0" marL="142494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1200"/>
              <a:buFont typeface="Helvetica Neue"/>
              <a:buChar char="•"/>
            </a:pPr>
            <a:r>
              <a:rPr b="0" i="0" lang="en-US" spc="0" sz="1200" u="none" cap="none" strike="noStrike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Dummy baseline (reference)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55833" y="3336463"/>
            <a:ext cx="4805087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6D"/>
              </a:buClr>
              <a:buSzPts val="1000"/>
              <a:buFont typeface="Helvetica Neue"/>
              <a:buNone/>
            </a:pPr>
            <a:r>
              <a:rPr b="0" i="0" lang="en-US" spc="0" sz="1000" u="none" cap="none" strike="noStrike">
                <a:solidFill>
                  <a:srgbClr val="6B71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Validated with stratified 5-fold cross-validation.</a:t>
            </a:r>
            <a:endParaRPr b="0" i="0" spc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3200"/>
              <a:buFont typeface="Helvetica Neue"/>
              <a:buNone/>
            </a:pPr>
            <a:r>
              <a:rPr b="1" i="0" lang="en-US" sz="3200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Comparison</a:t>
            </a:r>
            <a:endParaRPr sz="3200"/>
          </a:p>
        </p:txBody>
      </p:sp>
      <p:sp>
        <p:nvSpPr>
          <p:cNvPr id="133" name="Google Shape;133;p9"/>
          <p:cNvSpPr/>
          <p:nvPr/>
        </p:nvSpPr>
        <p:spPr>
          <a:xfrm>
            <a:off x="812800" y="1534120"/>
            <a:ext cx="10566400" cy="2374768"/>
          </a:xfrm>
          <a:prstGeom prst="roundRect">
            <a:avLst>
              <a:gd fmla="val 42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812800" y="1534120"/>
            <a:ext cx="10566400" cy="2374768"/>
          </a:xfrm>
          <a:custGeom>
            <a:rect b="b" l="l" r="r" t="t"/>
            <a:pathLst>
              <a:path extrusionOk="0" h="2374768" w="10566400">
                <a:moveTo>
                  <a:pt x="101600" y="2374768"/>
                </a:moveTo>
                <a:lnTo>
                  <a:pt x="101600" y="2374768"/>
                </a:lnTo>
                <a:cubicBezTo>
                  <a:pt x="45488" y="2374768"/>
                  <a:pt x="0" y="2329280"/>
                  <a:pt x="0" y="2273168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10464800" y="0"/>
                </a:lnTo>
                <a:cubicBezTo>
                  <a:pt x="10491746" y="0"/>
                  <a:pt x="10517588" y="10704"/>
                  <a:pt x="10536642" y="29758"/>
                </a:cubicBezTo>
                <a:cubicBezTo>
                  <a:pt x="10555696" y="48812"/>
                  <a:pt x="10566400" y="74654"/>
                  <a:pt x="10566400" y="101600"/>
                </a:cubicBezTo>
                <a:lnTo>
                  <a:pt x="10566400" y="101600"/>
                </a:lnTo>
                <a:cubicBezTo>
                  <a:pt x="10566400" y="52502"/>
                  <a:pt x="10520912" y="12700"/>
                  <a:pt x="10464800" y="12700"/>
                </a:cubicBezTo>
                <a:lnTo>
                  <a:pt x="101600" y="12700"/>
                </a:lnTo>
                <a:cubicBezTo>
                  <a:pt x="52502" y="12700"/>
                  <a:pt x="12700" y="52502"/>
                  <a:pt x="12700" y="101600"/>
                </a:cubicBezTo>
                <a:lnTo>
                  <a:pt x="12700" y="2273168"/>
                </a:lnTo>
                <a:cubicBezTo>
                  <a:pt x="12700" y="2329280"/>
                  <a:pt x="52502" y="2374768"/>
                  <a:pt x="101600" y="2374768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" name="Google Shape;135;p9"/>
          <p:cNvGraphicFramePr/>
          <p:nvPr/>
        </p:nvGraphicFramePr>
        <p:xfrm>
          <a:off x="825500" y="1546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{41CE4109-C6D2-4D01-8105-970DAE0A201F}</a:tableStyleId>
              </a:tblPr>
              <a:tblGrid>
                <a:gridCol w="2638425"/>
                <a:gridCol w="2638425"/>
                <a:gridCol w="2638425"/>
                <a:gridCol w="2638425"/>
              </a:tblGrid>
              <a:tr h="47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F7F6F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Model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F7F6F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Accuracy (mean)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F7F6F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Macro F1 (mean)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F7F6F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Accuracy Std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421"/>
                    </a:solidFill>
                  </a:tcPr>
                </a:tc>
              </a:tr>
              <a:tr h="47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6F6B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E6F6B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Logistic Regression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75.6%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74.7%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5F5A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5A5F5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±6.6%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20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2"/>
                    </a:solidFill>
                  </a:tcPr>
                </a:tc>
              </a:tr>
              <a:tr h="47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Gradient Boosting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74.1%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73.3%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F8A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8A8F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±8.4%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Random Forest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73.7%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2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1F242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72.7%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F8A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8A8F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±5.4%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F8A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8A8F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Dummy (baseline)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F8A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8A8F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16.8%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F8A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8A8F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4.8%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F8A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8A8F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±0.4%</a:t>
                      </a:r>
                      <a:endParaRPr spc="0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9"/>
          <p:cNvSpPr/>
          <p:nvPr/>
        </p:nvSpPr>
        <p:spPr>
          <a:xfrm>
            <a:off x="812800" y="4162890"/>
            <a:ext cx="113792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6D"/>
              </a:buClr>
              <a:buSzPts val="1200"/>
              <a:buFont typeface="Helvetica Neue"/>
              <a:buNone/>
            </a:pPr>
            <a:r>
              <a:rPr b="0" i="0" lang="en-US" spc="0" sz="1200" u="none" cap="none" strike="noStrike">
                <a:solidFill>
                  <a:srgbClr val="6B71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Logistic Regression leads on both accuracy and macro F1, with the lowest fold-to-fold variance among the trained models — well above the 16.8% baseline.</a:t>
            </a:r>
            <a:endParaRPr b="0" i="0" spc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609600" y="609600"/>
            <a:ext cx="11301984" cy="434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21"/>
              </a:buClr>
              <a:buSzPts val="2800"/>
              <a:buFont typeface="Helvetica Neue"/>
              <a:buNone/>
            </a:pPr>
            <a:r>
              <a:rPr b="1" i="0" lang="en-US" sz="2800">
                <a:solidFill>
                  <a:srgbClr val="1F24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Confusion Matrix — Logistic Regression</a:t>
            </a:r>
            <a:endParaRPr sz="2800"/>
          </a:p>
        </p:txBody>
      </p:sp>
      <p:sp>
        <p:nvSpPr>
          <p:cNvPr id="143" name="Google Shape;143;p10"/>
          <p:cNvSpPr/>
          <p:nvPr/>
        </p:nvSpPr>
        <p:spPr>
          <a:xfrm>
            <a:off x="445013" y="6034232"/>
            <a:ext cx="113019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6D"/>
              </a:buClr>
              <a:buSzPts val="1100"/>
              <a:buFont typeface="Helvetica Neue"/>
              <a:buNone/>
            </a:pPr>
            <a:r>
              <a:rPr b="0" i="0" lang="en-US" spc="0" sz="1100" u="none" cap="none" strike="noStrike">
                <a:solidFill>
                  <a:srgbClr val="6B71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 = true label, columns = predicted. Confusion is concentrated between Antalgic ↔ Stiff-legged and Trendelenburg ↔ Lurch, both pairs sharing similar compensatory joint-angle signatures.</a:t>
            </a:r>
            <a:endParaRPr b="0" i="0" spc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225" y="1104565"/>
            <a:ext cx="5557680" cy="486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42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200"/>
              <a:buFont typeface="Helvetica Neue"/>
              <a:buNone/>
            </a:pPr>
            <a:r>
              <a:rPr b="1" i="0" lang="en-US" sz="3200">
                <a:solidFill>
                  <a:srgbClr val="F7F6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Takeaways</a:t>
            </a:r>
            <a:endParaRPr sz="3200"/>
          </a:p>
        </p:txBody>
      </p:sp>
      <p:sp>
        <p:nvSpPr>
          <p:cNvPr id="151" name="Google Shape;151;p11"/>
          <p:cNvSpPr/>
          <p:nvPr/>
        </p:nvSpPr>
        <p:spPr>
          <a:xfrm>
            <a:off x="812800" y="1534120"/>
            <a:ext cx="3403600" cy="1287661"/>
          </a:xfrm>
          <a:prstGeom prst="roundRect">
            <a:avLst>
              <a:gd fmla="val 7890" name="adj"/>
            </a:avLst>
          </a:prstGeom>
          <a:solidFill>
            <a:srgbClr val="2A3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1016000" y="1737320"/>
            <a:ext cx="3087116" cy="452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C4BD"/>
              </a:buClr>
              <a:buSzPts val="2400"/>
              <a:buFont typeface="Helvetica Neue"/>
              <a:buNone/>
            </a:pPr>
            <a:r>
              <a:rPr b="1" i="0" lang="en-US" spc="0" sz="2400" u="none" cap="none" strike="noStrike">
                <a:solidFill>
                  <a:srgbClr val="7FC4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75.6%</a:t>
            </a:r>
            <a:endParaRPr b="0" i="0" spc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1016000" y="2227529"/>
            <a:ext cx="3087116" cy="416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CBC8"/>
              </a:buClr>
              <a:buSzPts val="1100"/>
              <a:buFont typeface="Helvetica Neue"/>
              <a:buNone/>
            </a:pPr>
            <a:r>
              <a:rPr b="0" i="0" lang="en-US" spc="0" sz="1100" u="none" cap="none" strike="noStrike">
                <a:solidFill>
                  <a:srgbClr val="C7CB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accuracy with Logistic Regression, best of 4 models tested</a:t>
            </a:r>
            <a:endParaRPr b="0" i="0" spc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394200" y="1534120"/>
            <a:ext cx="3403600" cy="1287661"/>
          </a:xfrm>
          <a:prstGeom prst="roundRect">
            <a:avLst>
              <a:gd fmla="val 7890" name="adj"/>
            </a:avLst>
          </a:prstGeom>
          <a:solidFill>
            <a:srgbClr val="2A3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4597400" y="1737320"/>
            <a:ext cx="3087116" cy="452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C4BD"/>
              </a:buClr>
              <a:buSzPts val="2400"/>
              <a:buFont typeface="Helvetica Neue"/>
              <a:buNone/>
            </a:pPr>
            <a:r>
              <a:rPr b="1" i="0" lang="en-US" spc="0" sz="2400" u="none" cap="none" strike="noStrike">
                <a:solidFill>
                  <a:srgbClr val="7FC4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pc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597400" y="2227529"/>
            <a:ext cx="3087116" cy="416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CBC8"/>
              </a:buClr>
              <a:buSzPts val="1100"/>
              <a:buFont typeface="Helvetica Neue"/>
              <a:buNone/>
            </a:pPr>
            <a:r>
              <a:rPr b="0" i="0" lang="en-US" spc="0" sz="1100" u="none" cap="none" strike="noStrike">
                <a:solidFill>
                  <a:srgbClr val="C7CB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gait classes separated from skeleton features alone</a:t>
            </a:r>
            <a:endParaRPr b="0" i="0" spc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7975600" y="1534120"/>
            <a:ext cx="3403600" cy="1287661"/>
          </a:xfrm>
          <a:prstGeom prst="roundRect">
            <a:avLst>
              <a:gd fmla="val 7890" name="adj"/>
            </a:avLst>
          </a:prstGeom>
          <a:solidFill>
            <a:srgbClr val="2A3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8178800" y="1737320"/>
            <a:ext cx="3087116" cy="452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C4BD"/>
              </a:buClr>
              <a:buSzPts val="2400"/>
              <a:buFont typeface="Helvetica Neue"/>
              <a:buNone/>
            </a:pPr>
            <a:r>
              <a:rPr b="1" i="0" lang="en-US" spc="0" sz="2400" u="none" cap="none" strike="noStrike">
                <a:solidFill>
                  <a:srgbClr val="7FC4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4.5x</a:t>
            </a:r>
            <a:endParaRPr b="0" i="0" spc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8178800" y="2227529"/>
            <a:ext cx="3087116" cy="220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CBC8"/>
              </a:buClr>
              <a:buSzPts val="1100"/>
              <a:buFont typeface="Helvetica Neue"/>
              <a:buNone/>
            </a:pPr>
            <a:r>
              <a:rPr b="0" i="0" lang="en-US" spc="0" sz="1100" u="none" cap="none" strike="noStrike">
                <a:solidFill>
                  <a:srgbClr val="C7CB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 baseline macro F1 (74.7% vs 4.8%)</a:t>
            </a:r>
            <a:endParaRPr b="0" i="0" spc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812800" y="3075781"/>
            <a:ext cx="981075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7CBC8"/>
              </a:buClr>
              <a:buSzPts val="1300"/>
              <a:buFont typeface="Helvetica Neue"/>
              <a:buNone/>
            </a:pPr>
            <a:r>
              <a:rPr b="0" i="0" lang="en-US" spc="0" sz="1300" u="none" cap="none" strike="noStrike">
                <a:solidFill>
                  <a:srgbClr val="C7CB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steps: richer temporal features across full stride cycles, and targeted data collection to resolve the Antalgic/Stiff-legged and Trendelenburg/Lurch confusion pairs.</a:t>
            </a:r>
            <a:endParaRPr b="0" i="0" spc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12800" y="5849677"/>
            <a:ext cx="10883392" cy="220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F8A"/>
              </a:buClr>
              <a:buSzPts val="1100"/>
              <a:buFont typeface="Helvetica Neue"/>
              <a:buNone/>
            </a:pPr>
            <a:r>
              <a:rPr b="0" i="0" lang="en-US" spc="0" sz="1100" u="none" cap="none" strike="noStrike">
                <a:solidFill>
                  <a:srgbClr val="8A8F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10 · Nishit Suresh &amp; Nitin Somisetty</a:t>
            </a:r>
            <a:endParaRPr b="0" i="0" spc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31520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521"/>
                </a:solidFill>
                <a:latin typeface="Aptos"/>
              </a:rPr>
              <a:t>Dataset: From Joints to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05256"/>
            <a:ext cx="108813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6D68"/>
                </a:solidFill>
                <a:latin typeface="Aptos"/>
              </a:rPr>
              <a:t>The Kinect records a 3D skeleton; we convert its joint coordinates into inputs for gait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2880360" cy="2057400"/>
          </a:xfrm>
          <a:prstGeom prst="roundRect">
            <a:avLst/>
          </a:prstGeom>
          <a:solidFill>
            <a:srgbClr val="1F2521"/>
          </a:solidFill>
          <a:ln w="12700">
            <a:solidFill>
              <a:srgbClr val="1F2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24231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>
                <a:solidFill>
                  <a:srgbClr val="8BC7BF"/>
                </a:solidFill>
                <a:latin typeface="Aptos"/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42032"/>
            <a:ext cx="2331720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distinct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33172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CE8E5"/>
                </a:solidFill>
                <a:latin typeface="Aptos"/>
              </a:rPr>
              <a:t>75 coordinates + 8 derived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810512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2521"/>
                </a:solidFill>
                <a:latin typeface="Aptos"/>
              </a:rPr>
              <a:t>25 tracked body joints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67712"/>
            <a:ext cx="3218688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76D68"/>
                </a:solidFill>
                <a:latin typeface="Aptos"/>
              </a:rPr>
              <a:t>Each joint has three 3D coordinates: X, Y and 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07792"/>
            <a:ext cx="324612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C6F6A"/>
                </a:solidFill>
                <a:latin typeface="Aptos"/>
              </a:rPr>
              <a:t>25 × 3 = 75 coordinate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00200"/>
            <a:ext cx="3931920" cy="2057400"/>
          </a:xfrm>
          <a:prstGeom prst="roundRect">
            <a:avLst/>
          </a:prstGeom>
          <a:solidFill>
            <a:srgbClr val="E2EFEC"/>
          </a:solidFill>
          <a:ln w="12700">
            <a:solidFill>
              <a:srgbClr val="E2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1810512"/>
            <a:ext cx="342900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C6F6A"/>
                </a:solidFill>
                <a:latin typeface="Aptos"/>
              </a:rPr>
              <a:t>What the columns represent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267712"/>
            <a:ext cx="3401568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521"/>
                </a:solidFill>
                <a:latin typeface="Aptos"/>
              </a:rPr>
              <a:t>Examples: joint0_x, joint0_y, joint0_z … joint24_z.
Derived features add biomechanical information such as joint angles and segment relationships.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096512"/>
            <a:ext cx="384048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6F6A"/>
                </a:solidFill>
                <a:latin typeface="Aptos"/>
              </a:rPr>
              <a:t>HOW RAW DATA BECOMES MODEL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507992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45152"/>
            <a:ext cx="2916936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521"/>
                </a:solidFill>
                <a:latin typeface="Aptos"/>
              </a:rPr>
              <a:t>Joint coordinates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01768"/>
            <a:ext cx="2916936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76D68"/>
                </a:solidFill>
                <a:latin typeface="Aptos"/>
              </a:rPr>
              <a:t>X, Y, Z for each joint</a:t>
            </a:r>
          </a:p>
        </p:txBody>
      </p:sp>
      <p:sp>
        <p:nvSpPr>
          <p:cNvPr id="19" name="Chevron 18"/>
          <p:cNvSpPr/>
          <p:nvPr/>
        </p:nvSpPr>
        <p:spPr>
          <a:xfrm>
            <a:off x="3968496" y="4864608"/>
            <a:ext cx="274320" cy="274320"/>
          </a:xfrm>
          <a:prstGeom prst="chevron">
            <a:avLst/>
          </a:prstGeom>
          <a:solidFill>
            <a:srgbClr val="2C6F6A"/>
          </a:solidFill>
          <a:ln>
            <a:solidFill>
              <a:srgbClr val="2C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70832" y="4507992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4645152"/>
            <a:ext cx="2916936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521"/>
                </a:solidFill>
                <a:latin typeface="Aptos"/>
              </a:rPr>
              <a:t>Derived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5001768"/>
            <a:ext cx="2916936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76D68"/>
                </a:solidFill>
                <a:latin typeface="Aptos"/>
              </a:rPr>
              <a:t>Angles and body-segment relationships</a:t>
            </a:r>
          </a:p>
        </p:txBody>
      </p:sp>
      <p:sp>
        <p:nvSpPr>
          <p:cNvPr id="23" name="Chevron 22"/>
          <p:cNvSpPr/>
          <p:nvPr/>
        </p:nvSpPr>
        <p:spPr>
          <a:xfrm>
            <a:off x="7726679" y="4864608"/>
            <a:ext cx="274320" cy="274320"/>
          </a:xfrm>
          <a:prstGeom prst="chevron">
            <a:avLst/>
          </a:prstGeom>
          <a:solidFill>
            <a:srgbClr val="2C6F6A"/>
          </a:solidFill>
          <a:ln>
            <a:solidFill>
              <a:srgbClr val="2C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6" y="4507992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4645152"/>
            <a:ext cx="3099816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521"/>
                </a:solidFill>
                <a:latin typeface="Aptos"/>
              </a:rPr>
              <a:t>ML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5001768"/>
            <a:ext cx="3099816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76D68"/>
                </a:solidFill>
                <a:latin typeface="Aptos"/>
              </a:rPr>
              <a:t>Numerical representation of walking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897880"/>
            <a:ext cx="10881360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6D68"/>
                </a:solidFill>
                <a:latin typeface="Aptos"/>
              </a:rPr>
              <a:t>Why it matters: joint positions describe body posture, while derived features summarize movement relationships that can help distinguish the six gait classes.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6318504"/>
            <a:ext cx="731520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76D68"/>
                </a:solidFill>
                <a:latin typeface="Aptos"/>
              </a:rPr>
              <a:t>Automated Identification of Gait Abnormalities  ·  Team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tomated Identification of Gait Abnormalities">
  <a:themeElements>
    <a:clrScheme name="Automated Identification of Gait Abnormalities">
      <a:dk1>
        <a:srgbClr val="1F2421"/>
      </a:dk1>
      <a:lt1>
        <a:srgbClr val="F7F6F2"/>
      </a:lt1>
      <a:dk2>
        <a:srgbClr val="555955"/>
      </a:dk2>
      <a:lt2>
        <a:srgbClr val="E1E1DD"/>
      </a:lt2>
      <a:accent1>
        <a:srgbClr val="2E6F6B"/>
      </a:accent1>
      <a:accent2>
        <a:srgbClr val="7FC4BD"/>
      </a:accent2>
      <a:accent3>
        <a:srgbClr val="C7CBC8"/>
      </a:accent3>
      <a:accent4>
        <a:srgbClr val="5A5F5A"/>
      </a:accent4>
      <a:accent5>
        <a:srgbClr val="6B716D"/>
      </a:accent5>
      <a:accent6>
        <a:srgbClr val="8A8F8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utomated Identification of Gait Abnormalities">
  <a:themeElements>
    <a:clrScheme name="Automated Identification of Gait Abnormalities">
      <a:dk1>
        <a:srgbClr val="1F2421"/>
      </a:dk1>
      <a:lt1>
        <a:srgbClr val="F7F6F2"/>
      </a:lt1>
      <a:dk2>
        <a:srgbClr val="555955"/>
      </a:dk2>
      <a:lt2>
        <a:srgbClr val="E1E1DD"/>
      </a:lt2>
      <a:accent1>
        <a:srgbClr val="2E6F6B"/>
      </a:accent1>
      <a:accent2>
        <a:srgbClr val="7FC4BD"/>
      </a:accent2>
      <a:accent3>
        <a:srgbClr val="C7CBC8"/>
      </a:accent3>
      <a:accent4>
        <a:srgbClr val="5A5F5A"/>
      </a:accent4>
      <a:accent5>
        <a:srgbClr val="6B716D"/>
      </a:accent5>
      <a:accent6>
        <a:srgbClr val="8A8F8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